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7" r:id="rId10"/>
    <p:sldId id="268" r:id="rId11"/>
    <p:sldId id="262" r:id="rId12"/>
    <p:sldId id="26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0666A5F-16CE-0D7A-638E-903C55C14D31}" v="685" dt="2025-11-02T03:07:58.5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A67E988-5919-57BB-C7DE-D3EAD38A30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70" y="6209925"/>
            <a:ext cx="11155680" cy="45719"/>
          </a:xfrm>
          <a:custGeom>
            <a:avLst/>
            <a:gdLst>
              <a:gd name="connsiteX0" fmla="*/ 0 w 8715708"/>
              <a:gd name="connsiteY0" fmla="*/ 0 h 45719"/>
              <a:gd name="connsiteX1" fmla="*/ 3694525 w 8715708"/>
              <a:gd name="connsiteY1" fmla="*/ 0 h 45719"/>
              <a:gd name="connsiteX2" fmla="*/ 5021183 w 8715708"/>
              <a:gd name="connsiteY2" fmla="*/ 0 h 45719"/>
              <a:gd name="connsiteX3" fmla="*/ 8715708 w 8715708"/>
              <a:gd name="connsiteY3" fmla="*/ 0 h 45719"/>
              <a:gd name="connsiteX4" fmla="*/ 8715708 w 8715708"/>
              <a:gd name="connsiteY4" fmla="*/ 45719 h 45719"/>
              <a:gd name="connsiteX5" fmla="*/ 5021183 w 8715708"/>
              <a:gd name="connsiteY5" fmla="*/ 45719 h 45719"/>
              <a:gd name="connsiteX6" fmla="*/ 3694525 w 8715708"/>
              <a:gd name="connsiteY6" fmla="*/ 45719 h 45719"/>
              <a:gd name="connsiteX7" fmla="*/ 0 w 8715708"/>
              <a:gd name="connsiteY7" fmla="*/ 45719 h 457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15708" h="45719">
                <a:moveTo>
                  <a:pt x="0" y="0"/>
                </a:moveTo>
                <a:lnTo>
                  <a:pt x="3694525" y="0"/>
                </a:lnTo>
                <a:lnTo>
                  <a:pt x="5021183" y="0"/>
                </a:lnTo>
                <a:lnTo>
                  <a:pt x="8715708" y="0"/>
                </a:lnTo>
                <a:lnTo>
                  <a:pt x="8715708" y="45719"/>
                </a:lnTo>
                <a:lnTo>
                  <a:pt x="5021183" y="45719"/>
                </a:lnTo>
                <a:lnTo>
                  <a:pt x="3694525" y="45719"/>
                </a:lnTo>
                <a:lnTo>
                  <a:pt x="0" y="4571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2327B2-BA4B-2C04-0751-5CB63D4AA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1208" y="978408"/>
            <a:ext cx="11155680" cy="3429000"/>
          </a:xfrm>
        </p:spPr>
        <p:txBody>
          <a:bodyPr anchor="t">
            <a:normAutofit/>
          </a:bodyPr>
          <a:lstStyle>
            <a:lvl1pPr algn="l">
              <a:defRPr sz="7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7201176-DC7A-4C3D-3D8F-352526DA7B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1208" y="4480560"/>
            <a:ext cx="7104888" cy="1399032"/>
          </a:xfrm>
        </p:spPr>
        <p:txBody>
          <a:bodyPr anchor="b">
            <a:normAutofit/>
          </a:bodyPr>
          <a:lstStyle>
            <a:lvl1pPr marL="0" indent="0" algn="l">
              <a:buNone/>
              <a:defRPr sz="2200" i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7DC221-9A2E-7459-102F-C3CFB27CC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020671-6F7D-3A03-EEC1-661A87F96F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453D3A-E0F9-8386-2A6C-96671FBB1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95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26D03-149A-DAB3-4B2A-E9B74F2E25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C1E73D-41A7-9934-0990-9208B9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B2A3F-E719-673C-5D56-F663712D0E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AE594A-52F5-D85E-343C-ADFEE3C72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D5C9C-B2E2-FC26-E459-9E880EF9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353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D51F-B2D5-2804-4F7C-C99850FBD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4288536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FE5516-03B6-C488-EB4A-68AE681EDF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5266944"/>
            <a:ext cx="5020056" cy="1088136"/>
          </a:xfrm>
        </p:spPr>
        <p:txBody>
          <a:bodyPr anchor="b">
            <a:normAutofit/>
          </a:bodyPr>
          <a:lstStyle>
            <a:lvl1pPr marL="0" indent="0">
              <a:buNone/>
              <a:defRPr sz="2200" i="1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CB4D7-49A7-D050-70B9-11A1E2D44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9A913F-AD00-C1EE-B01A-8590671C01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4FC386-B2AF-6FAD-D053-E22D48CD72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E1E1B67-3BFF-F04B-52F4-7E724FB3B24D}"/>
              </a:ext>
            </a:extLst>
          </p:cNvPr>
          <p:cNvSpPr/>
          <p:nvPr/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992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3B21-CF4D-1B01-0F4E-D32C1B218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B39FF2-6858-B514-B695-58442557D0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1208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0130-974D-B91D-5B93-EC52AABDB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9672" y="2578608"/>
            <a:ext cx="5166360" cy="3767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5BED99-6FD7-9C6B-1152-A6E42715B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253AAC-5967-2565-A715-82D3505AB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B51313-69FB-E016-3CC1-62CA476ED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285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DF9D-B849-CE37-97E4-AD37F880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64824" cy="12161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D4C626-4008-960A-E601-6AA9F4BB8D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6E8D6C-AC07-ED6B-2EA8-9C40A5AEA7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21208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2617E-C6D9-246B-E7B7-8159DF17C0A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19672" y="2340864"/>
            <a:ext cx="5166360" cy="658368"/>
          </a:xfrm>
        </p:spPr>
        <p:txBody>
          <a:bodyPr anchor="b">
            <a:normAutofit/>
          </a:bodyPr>
          <a:lstStyle>
            <a:lvl1pPr marL="0" indent="0">
              <a:buNone/>
              <a:defRPr sz="2200" b="0" i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BC2094-7EBC-02C5-5AB5-233E63080A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19672" y="3035808"/>
            <a:ext cx="5166360" cy="331012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3010BD2-59B4-FD2E-3C5E-C83AE6003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2B35C4-A654-7759-BDA0-94D9D1A21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5F4347-2EC0-CA6E-2637-8048456D7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64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4716D-52F2-C7FB-83B1-2DA1AD375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F4A371-AC27-6A28-32E6-74A28371BF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55941A-A24E-885D-E894-0326F4C400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5E5B4-971F-FF6A-1B07-A5C85370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043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9F431F-E6DC-4137-3092-A30A0A362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C814B-67B4-C70F-FA51-6205D5E2CB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EAA9C9-D895-DD20-1089-EA75EA428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33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B50562-884C-9053-70C1-3B72A0B4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18F509-68F0-39D5-1A8B-CE246715AE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19672" y="987424"/>
            <a:ext cx="5166360" cy="5358384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58E37C-27CE-3A84-FC74-BDCCD8A9A3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A95F79-E23E-11D2-40BF-66ED3401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57F7FC-06F3-3D89-5D1A-4EC4B1D73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54ACD5-6E0B-5713-DC9A-41E9D62AB1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5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B2D45-7CDB-D38C-2AAE-273F79767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5020056" cy="2459736"/>
          </a:xfrm>
        </p:spPr>
        <p:txBody>
          <a:bodyPr anchor="t">
            <a:no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CBF0855-1744-56E4-B115-3A3C5EA783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19672" y="987424"/>
            <a:ext cx="5166360" cy="535838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5E8A1D-28AE-4A19-BD96-401D4822A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21208" y="3575304"/>
            <a:ext cx="5020056" cy="2770632"/>
          </a:xfrm>
        </p:spPr>
        <p:txBody>
          <a:bodyPr>
            <a:normAutofit/>
          </a:bodyPr>
          <a:lstStyle>
            <a:lvl1pPr marL="0" indent="0">
              <a:buNone/>
              <a:defRPr sz="2200" i="1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327DDB-CE95-4C89-DFC5-7DDBFC24E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22C835-F3B5-943C-FFC4-D5BA9666AF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09891-6E3C-ADED-01DD-15FCED37A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232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36771-E72D-FAD8-771E-3E196DD2E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5BB827-257D-60D9-792F-E695900429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5D2E7-C856-F78A-E88C-37547498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DAB289-9591-51C9-9E3C-B6F2ACC6A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FE037C-790D-7442-8E43-D2740B3952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215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635151-A38B-3766-6A32-FF1DF7687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659368" y="978408"/>
            <a:ext cx="2551176" cy="5367528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D132D1-640C-FB9A-AD6F-D845738349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1208" y="978408"/>
            <a:ext cx="8010144" cy="536752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55F80A-4BA7-8ED8-9A62-B921942726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E38113-D55A-A1A0-D1FE-53C95860F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919DDB-F89D-4B2D-21A2-82AF1D102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62572D8-D485-1DB1-34B1-C35C61C89940}"/>
              </a:ext>
            </a:extLst>
          </p:cNvPr>
          <p:cNvSpPr/>
          <p:nvPr/>
        </p:nvSpPr>
        <p:spPr>
          <a:xfrm rot="5400000">
            <a:off x="8936623" y="3585018"/>
            <a:ext cx="5325734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0066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31A28D7-6581-4956-AAE3-9104804DF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1208" y="978408"/>
            <a:ext cx="11155680" cy="14630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FCCA4-57A4-08A1-FC45-D2BBA66FAB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1208" y="2578608"/>
            <a:ext cx="11155680" cy="3767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FAA0F4-2442-8D45-3C3D-1B8F55C8683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21208" y="641908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11/1/2025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03785E-FB42-1D54-92AC-D0A61A8FA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21208" y="100584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9CF34-1274-DB45-4809-90E5D244A9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57432" y="6419088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774A975B-A886-5202-0489-6965514A0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17869" y="508090"/>
            <a:ext cx="11153214" cy="149279"/>
          </a:xfrm>
          <a:custGeom>
            <a:avLst/>
            <a:gdLst>
              <a:gd name="connsiteX0" fmla="*/ 0 w 8085002"/>
              <a:gd name="connsiteY0" fmla="*/ 0 h 149279"/>
              <a:gd name="connsiteX1" fmla="*/ 8085002 w 8085002"/>
              <a:gd name="connsiteY1" fmla="*/ 0 h 149279"/>
              <a:gd name="connsiteX2" fmla="*/ 8085002 w 8085002"/>
              <a:gd name="connsiteY2" fmla="*/ 149279 h 149279"/>
              <a:gd name="connsiteX3" fmla="*/ 0 w 8085002"/>
              <a:gd name="connsiteY3" fmla="*/ 149279 h 1492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085002" h="149279">
                <a:moveTo>
                  <a:pt x="0" y="0"/>
                </a:moveTo>
                <a:lnTo>
                  <a:pt x="8085002" y="0"/>
                </a:lnTo>
                <a:lnTo>
                  <a:pt x="8085002" y="149279"/>
                </a:lnTo>
                <a:lnTo>
                  <a:pt x="0" y="149279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0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1" r:id="rId6"/>
    <p:sldLayoutId id="2147483697" r:id="rId7"/>
    <p:sldLayoutId id="2147483698" r:id="rId8"/>
    <p:sldLayoutId id="2147483699" r:id="rId9"/>
    <p:sldLayoutId id="2147483700" r:id="rId10"/>
    <p:sldLayoutId id="2147483702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8BEC44CD-E290-4D60-A056-5BA05B18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757D4A73-A255-F01E-4CB1-AF772106BE4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0000"/>
          </a:blip>
          <a:srcRect l="19299" r="20922" b="-2"/>
          <a:stretch>
            <a:fillRect/>
          </a:stretch>
        </p:blipFill>
        <p:spPr>
          <a:xfrm>
            <a:off x="-1" y="-4"/>
            <a:ext cx="6096000" cy="685800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7870" y="978408"/>
            <a:ext cx="5021182" cy="2334248"/>
          </a:xfrm>
        </p:spPr>
        <p:txBody>
          <a:bodyPr anchor="t">
            <a:normAutofit/>
          </a:bodyPr>
          <a:lstStyle/>
          <a:p>
            <a:r>
              <a:rPr lang="en-US" sz="5400">
                <a:solidFill>
                  <a:srgbClr val="FFFFFF"/>
                </a:solidFill>
              </a:rPr>
              <a:t>InterNexus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2C335F7-F61C-4EB4-80F2-4B1438FE66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7870" y="508090"/>
            <a:ext cx="5021183" cy="14927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logo with text on it&#10;&#10;AI-generated content may be incorrect.">
            <a:extLst>
              <a:ext uri="{FF2B5EF4-FFF2-40B4-BE49-F238E27FC236}">
                <a16:creationId xmlns:a16="http://schemas.microsoft.com/office/drawing/2014/main" id="{D7F69399-713C-C3F7-3879-F6192FCA144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l="6473" r="4638"/>
          <a:stretch>
            <a:fillRect/>
          </a:stretch>
        </p:blipFill>
        <p:spPr>
          <a:xfrm>
            <a:off x="6095999" y="-542445"/>
            <a:ext cx="6096000" cy="6858001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52366" y="4017817"/>
            <a:ext cx="5040785" cy="19202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 Strategic National Russell Group-Style Research Collaboration Group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1189494-2B67-46D2-93D6-A122A09BF6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62168" y="6300216"/>
            <a:ext cx="5021183" cy="4571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4EE90-74F8-3237-FC5B-DA9B85FA3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&amp;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4AF54-3A43-9F45-F4F0-17D272532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 err="1"/>
              <a:t>InterNexus</a:t>
            </a:r>
          </a:p>
          <a:p>
            <a:r>
              <a:rPr lang="en-US" dirty="0"/>
              <a:t>Open innovation hub</a:t>
            </a:r>
          </a:p>
          <a:p>
            <a:r>
              <a:rPr lang="en-US" dirty="0"/>
              <a:t>Leveraging Malaysia's R&amp;D strength</a:t>
            </a:r>
          </a:p>
        </p:txBody>
      </p:sp>
    </p:spTree>
    <p:extLst>
      <p:ext uri="{BB962C8B-B14F-4D97-AF65-F5344CB8AC3E}">
        <p14:creationId xmlns:p14="http://schemas.microsoft.com/office/powerpoint/2010/main" val="4143425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A6555-1D49-FDDB-DDB6-F05A8CF4B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 &amp; Concept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12CDAD-7E88-316E-BF7F-62F0BD854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Unique concept</a:t>
            </a:r>
          </a:p>
          <a:p>
            <a:r>
              <a:rPr lang="en-US" dirty="0"/>
              <a:t>Collaboratory model</a:t>
            </a:r>
          </a:p>
          <a:p>
            <a:r>
              <a:rPr lang="en-US" dirty="0"/>
              <a:t>Innovation-focused</a:t>
            </a:r>
          </a:p>
        </p:txBody>
      </p:sp>
    </p:spTree>
    <p:extLst>
      <p:ext uri="{BB962C8B-B14F-4D97-AF65-F5344CB8AC3E}">
        <p14:creationId xmlns:p14="http://schemas.microsoft.com/office/powerpoint/2010/main" val="3278950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4D30A1-3785-E9CB-4679-50F445DB39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Execution &amp; Progress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61549-0058-0820-38F0-BAB060DE5C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Prototype development</a:t>
            </a:r>
          </a:p>
          <a:p>
            <a:r>
              <a:rPr lang="en-US" dirty="0"/>
              <a:t>User experience</a:t>
            </a:r>
          </a:p>
          <a:p>
            <a:r>
              <a:rPr lang="en-US" dirty="0"/>
              <a:t>Ongoing development</a:t>
            </a:r>
          </a:p>
        </p:txBody>
      </p:sp>
    </p:spTree>
    <p:extLst>
      <p:ext uri="{BB962C8B-B14F-4D97-AF65-F5344CB8AC3E}">
        <p14:creationId xmlns:p14="http://schemas.microsoft.com/office/powerpoint/2010/main" val="3428655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5A036F-9975-4D7C-8141-77791C714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0405AB-F9EB-0014-6489-03A19F0D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888" y="497392"/>
            <a:ext cx="1116624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4B5B65-C2DE-2C5C-1135-9E4E00D066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1915"/>
          <a:stretch>
            <a:fillRect/>
          </a:stretch>
        </p:blipFill>
        <p:spPr>
          <a:xfrm>
            <a:off x="517871" y="839336"/>
            <a:ext cx="11176496" cy="55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7827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A5A036F-9975-4D7C-8141-77791C7146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90405AB-F9EB-0014-6489-03A19F0DDC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5888" y="497392"/>
            <a:ext cx="11166243" cy="14927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Content Placeholder 3" descr="A screenshot of a graph&#10;&#10;AI-generated content may be incorrect.">
            <a:extLst>
              <a:ext uri="{FF2B5EF4-FFF2-40B4-BE49-F238E27FC236}">
                <a16:creationId xmlns:a16="http://schemas.microsoft.com/office/drawing/2014/main" id="{BB031916-E423-9D54-F7EF-39CB7251E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-1" b="2881"/>
          <a:stretch>
            <a:fillRect/>
          </a:stretch>
        </p:blipFill>
        <p:spPr>
          <a:xfrm>
            <a:off x="517871" y="839336"/>
            <a:ext cx="11176496" cy="5508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6910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810B3-2BE4-F1E8-2F86-0AA1025D78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Feasibility &amp; Future Potential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FA13C-1ADB-6A81-F635-B041CCE383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Strong foundation</a:t>
            </a:r>
          </a:p>
          <a:p>
            <a:r>
              <a:rPr lang="en-US" dirty="0"/>
              <a:t>Scalable roadmap</a:t>
            </a:r>
          </a:p>
          <a:p>
            <a:r>
              <a:rPr lang="en-US" dirty="0"/>
              <a:t>Economic &amp; societal impact</a:t>
            </a:r>
          </a:p>
          <a:p>
            <a:r>
              <a:rPr lang="en-US" dirty="0"/>
              <a:t>Sustainability</a:t>
            </a:r>
          </a:p>
        </p:txBody>
      </p:sp>
    </p:spTree>
    <p:extLst>
      <p:ext uri="{BB962C8B-B14F-4D97-AF65-F5344CB8AC3E}">
        <p14:creationId xmlns:p14="http://schemas.microsoft.com/office/powerpoint/2010/main" val="32905268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F97B6F-1F2B-1394-F741-3DD47C28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Partnerships &amp; Open Innovation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B56D6F-AA2D-D0AB-3A95-FF1AA48EA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Cross-sector nexus</a:t>
            </a:r>
          </a:p>
          <a:p>
            <a:r>
              <a:rPr lang="en-US" dirty="0"/>
              <a:t>Global linkages</a:t>
            </a:r>
          </a:p>
          <a:p>
            <a:r>
              <a:rPr lang="en-US" dirty="0"/>
              <a:t>Open innovation platform</a:t>
            </a:r>
          </a:p>
          <a:p>
            <a:r>
              <a:rPr lang="en-US" dirty="0"/>
              <a:t>Academic-industry synergy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73413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A screenshot of a phone&#10;&#10;AI-generated content may be incorrect.">
            <a:extLst>
              <a:ext uri="{FF2B5EF4-FFF2-40B4-BE49-F238E27FC236}">
                <a16:creationId xmlns:a16="http://schemas.microsoft.com/office/drawing/2014/main" id="{325BDAFF-A043-665B-CD38-F6572F62C45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9800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20BB609-EF92-42DB-836C-0699A590B5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414F83-E0EA-33FC-729E-F2913149E9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0244" b="-1"/>
          <a:stretch>
            <a:fillRect/>
          </a:stretch>
        </p:blipFill>
        <p:spPr>
          <a:xfrm>
            <a:off x="20" y="10"/>
            <a:ext cx="1218893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5986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54E96-3005-7117-019A-3F20118C89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 &amp; Call to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219EE-8947-2C95-92CA-CE15DE1C47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Aligned with national vision</a:t>
            </a:r>
          </a:p>
          <a:p>
            <a:r>
              <a:rPr lang="en-US" dirty="0"/>
              <a:t>Forward-looking impact</a:t>
            </a:r>
          </a:p>
          <a:p>
            <a:r>
              <a:rPr lang="en-US" dirty="0"/>
              <a:t>Invitation to collaborate</a:t>
            </a:r>
          </a:p>
        </p:txBody>
      </p:sp>
    </p:spTree>
    <p:extLst>
      <p:ext uri="{BB962C8B-B14F-4D97-AF65-F5344CB8AC3E}">
        <p14:creationId xmlns:p14="http://schemas.microsoft.com/office/powerpoint/2010/main" val="4343587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6039-5584-D4A3-C9C9-9F55BD3F5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 – Anticipated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DEE5F8-6FE6-14E8-7CF8-30948ED995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How will </a:t>
            </a:r>
            <a:r>
              <a:rPr lang="en-US" dirty="0" err="1"/>
              <a:t>InterNexus</a:t>
            </a:r>
            <a:r>
              <a:rPr lang="en-US" dirty="0"/>
              <a:t> secure long-term funding and governance?</a:t>
            </a:r>
          </a:p>
          <a:p>
            <a:r>
              <a:rPr lang="en-US" dirty="0"/>
              <a:t>What outcomes or metrics will define success?</a:t>
            </a:r>
          </a:p>
          <a:p>
            <a:r>
              <a:rPr lang="en-US" dirty="0"/>
              <a:t>How will we facilitate effective collaboration among very different partners?</a:t>
            </a:r>
          </a:p>
          <a:p>
            <a:r>
              <a:rPr lang="en-US" dirty="0"/>
              <a:t>What is the implementation timeline and next phases after the hackathon?</a:t>
            </a:r>
          </a:p>
        </p:txBody>
      </p:sp>
    </p:spTree>
    <p:extLst>
      <p:ext uri="{BB962C8B-B14F-4D97-AF65-F5344CB8AC3E}">
        <p14:creationId xmlns:p14="http://schemas.microsoft.com/office/powerpoint/2010/main" val="3750709782"/>
      </p:ext>
    </p:extLst>
  </p:cSld>
  <p:clrMapOvr>
    <a:masterClrMapping/>
  </p:clrMapOvr>
</p:sld>
</file>

<file path=ppt/theme/theme1.xml><?xml version="1.0" encoding="utf-8"?>
<a:theme xmlns:a="http://schemas.openxmlformats.org/drawingml/2006/main" name="GestaltVTI">
  <a:themeElements>
    <a:clrScheme name="Gestalt">
      <a:dk1>
        <a:srgbClr val="000000"/>
      </a:dk1>
      <a:lt1>
        <a:sysClr val="window" lastClr="FFFFFF"/>
      </a:lt1>
      <a:dk2>
        <a:srgbClr val="262626"/>
      </a:dk2>
      <a:lt2>
        <a:srgbClr val="F7F7F7"/>
      </a:lt2>
      <a:accent1>
        <a:srgbClr val="EBA000"/>
      </a:accent1>
      <a:accent2>
        <a:srgbClr val="00BAC8"/>
      </a:accent2>
      <a:accent3>
        <a:srgbClr val="E64823"/>
      </a:accent3>
      <a:accent4>
        <a:srgbClr val="4D5AFF"/>
      </a:accent4>
      <a:accent5>
        <a:srgbClr val="FE5D21"/>
      </a:accent5>
      <a:accent6>
        <a:srgbClr val="00C777"/>
      </a:accent6>
      <a:hlink>
        <a:srgbClr val="2998E3"/>
      </a:hlink>
      <a:folHlink>
        <a:srgbClr val="939393"/>
      </a:folHlink>
    </a:clrScheme>
    <a:fontScheme name="Gestalt">
      <a:majorFont>
        <a:latin typeface="Bierstadt"/>
        <a:ea typeface=""/>
        <a:cs typeface=""/>
      </a:majorFont>
      <a:minorFont>
        <a:latin typeface="Bierstad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estaltVTI" id="{4F87C71D-53D1-4B71-BF97-FD0EA4B25665}" vid="{A110AFC4-8D8A-4C02-8885-7BA370B379B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GestaltVTI</vt:lpstr>
      <vt:lpstr>InterNexus</vt:lpstr>
      <vt:lpstr>Introduction &amp; Overview</vt:lpstr>
      <vt:lpstr>Vision &amp; Concept</vt:lpstr>
      <vt:lpstr>Technical Execution &amp; Progress</vt:lpstr>
      <vt:lpstr>PowerPoint Presentation</vt:lpstr>
      <vt:lpstr>PowerPoint Presentation</vt:lpstr>
      <vt:lpstr>Feasibility &amp; Future Potential</vt:lpstr>
      <vt:lpstr>Strategic Partnerships &amp; Open Innovation</vt:lpstr>
      <vt:lpstr>PowerPoint Presentation</vt:lpstr>
      <vt:lpstr>PowerPoint Presentation</vt:lpstr>
      <vt:lpstr>Conclusion &amp; Call to Action</vt:lpstr>
      <vt:lpstr>Q&amp;A – Anticipated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100</cp:revision>
  <dcterms:created xsi:type="dcterms:W3CDTF">2025-11-02T02:49:00Z</dcterms:created>
  <dcterms:modified xsi:type="dcterms:W3CDTF">2025-11-02T03:08:23Z</dcterms:modified>
</cp:coreProperties>
</file>